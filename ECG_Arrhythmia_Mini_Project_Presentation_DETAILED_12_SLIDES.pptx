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82F48"/>
                </a:solidFill>
                <a:latin typeface="Aptos"/>
              </a:defRPr>
            </a:pPr>
            <a:r>
              <a:t>Detecting Heart Abnormality Using ECG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69AA"/>
                </a:solidFill>
                <a:latin typeface="Aptos"/>
              </a:defRPr>
            </a:pPr>
            <a:r>
              <a:t>CART and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88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323"/>
                </a:solidFill>
                <a:latin typeface="Aptos"/>
              </a:defRPr>
            </a:pPr>
            <a:r>
              <a:t>Machine Learning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8138160" cy="105156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76272" y="3584448"/>
            <a:ext cx="7808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rPr dirty="0"/>
              <a:t>PROJECT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3950208"/>
            <a:ext cx="780897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Reproduction of the reference CART workflow + Random Forest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36" y="5073535"/>
            <a:ext cx="8503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973"/>
                </a:solidFill>
                <a:latin typeface="Aptos"/>
              </a:defRPr>
            </a:pPr>
            <a:r>
              <a:rPr lang="en-US" dirty="0" smtClean="0"/>
              <a:t>                                       </a:t>
            </a:r>
            <a:r>
              <a:rPr dirty="0" smtClean="0"/>
              <a:t>Team Members</a:t>
            </a:r>
            <a:r>
              <a:rPr lang="en-US" dirty="0" smtClean="0"/>
              <a:t>: B ANUSHA </a:t>
            </a:r>
            <a:r>
              <a:rPr dirty="0" smtClean="0"/>
              <a:t> </a:t>
            </a:r>
            <a:r>
              <a:rPr lang="en-US" dirty="0" smtClean="0"/>
              <a:t> SRN                                                </a:t>
            </a:r>
            <a:r>
              <a:rPr dirty="0" smtClean="0"/>
              <a:t>  </a:t>
            </a:r>
            <a:r>
              <a:rPr dirty="0"/>
              <a:t>|   PES University   |   CSE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695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Problem Statement, Motivation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349240" cy="123444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207007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72768"/>
            <a:ext cx="5020055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ptos"/>
              </a:defRPr>
            </a:pPr>
            <a:r>
              <a:t>Build a machine-learning pipeline that uses ECG/arrhythmia data to classify cardiac-condition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207007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5020055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The reference study uses CART for ECG-based classification. We reproduce that approach and extend it with an ensemble model for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82F48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6984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Use the UCI Arrhythmia dataset used by the reference study.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Inspect the data and handle missing values represented by '?'.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Remove Feature 14 because of its high missing-value proportion.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Train and evaluate the reference CART model.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Implement Random Forest as an additional model.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Compare model performance and compare CART with the reference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Reference Paper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303520" cy="96012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207007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REFERENCE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72768"/>
            <a:ext cx="49743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Detecting Heart Abnormality using ECG with CART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3949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207007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REFERENCE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572768"/>
            <a:ext cx="50657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ECG / Arrhythmia data → preprocessing → CART classification → performance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82F48"/>
                </a:solidFill>
                <a:latin typeface="Aptos"/>
              </a:defRPr>
            </a:pPr>
            <a:r>
              <a:t>UCI ARRHYTHMIA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23774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PATIENT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452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834640"/>
            <a:ext cx="23774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9260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ORIGINAL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279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2834640"/>
            <a:ext cx="23774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FINAL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278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834640"/>
            <a:ext cx="23774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29260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TEST SAMPLES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Multiclass classification problem.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Missing values are represented by '?'.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The same UCI Arrhythmia dataset was used for our implementation.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Reference paper reports approximately 80% CART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Data Preparation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82F48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0574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9A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Load &amp;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452 × 279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508760"/>
            <a:ext cx="20574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9A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Convert ? → 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574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508760"/>
            <a:ext cx="20574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48072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9A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Remove Feature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574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279 → 278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508760"/>
            <a:ext cx="20574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792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9A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Median imputation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0574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No missing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508760"/>
            <a:ext cx="20574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1511" y="1627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9A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7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39" y="20574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70 : 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F48"/>
                </a:solidFill>
                <a:latin typeface="Aptos"/>
              </a:defRPr>
            </a:pPr>
            <a:r>
              <a:t>FINAL SPLIT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03320"/>
            <a:ext cx="301752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794759"/>
            <a:ext cx="2926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690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316 samples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3703320"/>
            <a:ext cx="301752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0" y="3794759"/>
            <a:ext cx="2926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0690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136 samples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3703320"/>
            <a:ext cx="23774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0" y="379475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RANDOM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3703320"/>
            <a:ext cx="182880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92640" y="3794759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STRATIFIED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892040"/>
            <a:ext cx="10744200" cy="105156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" y="5001768"/>
            <a:ext cx="10415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WHY MEDIAN IMPUTATION?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5367527"/>
            <a:ext cx="1041501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ptos"/>
              </a:defRPr>
            </a:pPr>
            <a:r>
              <a:t>It retains patient records while providing numerical values required by the models. After imputation, the processed feature matrix contains no remaining missing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CART — Reference Model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337560" cy="141732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207007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572768"/>
            <a:ext cx="3008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DecisionTreeClassifier</a:t>
            </a:r>
            <a:br/>
            <a:r>
              <a:t>criterion = Gini</a:t>
            </a:r>
            <a:br/>
            <a:r>
              <a:t>random_state =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274320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6552" y="1207007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WHAT WE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1572768"/>
            <a:ext cx="3328416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ptos"/>
              </a:defRPr>
            </a:pPr>
            <a:r>
              <a:t>• Trained CART on the preprocessed training set.</a:t>
            </a:r>
            <a:br/>
            <a:r>
              <a:t>• Generated test predictions.</a:t>
            </a:r>
            <a:br/>
            <a:r>
              <a:t>• Evaluated accuracy, precision, recall and F1-score.</a:t>
            </a:r>
            <a:br/>
            <a:r>
              <a:t>• Generated a confusion matrix.</a:t>
            </a:r>
            <a:br/>
            <a:r>
              <a:t>• Performed 10-fold cross-validation.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383280" cy="274320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207007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WHY CART?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572768"/>
            <a:ext cx="3054096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ptos"/>
              </a:defRPr>
            </a:pPr>
            <a:r>
              <a:t>CART is the main classification model in the reference paper, so reproducing it is the core reproduction component of the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82F48"/>
                </a:solidFill>
                <a:latin typeface="Aptos"/>
              </a:defRPr>
            </a:pPr>
            <a:r>
              <a:t>CART TEST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663440"/>
            <a:ext cx="251460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54879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69.12%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663440"/>
            <a:ext cx="251460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4754879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029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67.46%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663440"/>
            <a:ext cx="251460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4754879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029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69.12%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663440"/>
            <a:ext cx="251460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23960" y="4754879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5029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67.80%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806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69AA"/>
                </a:solidFill>
                <a:latin typeface="Aptos"/>
              </a:defRPr>
            </a:pPr>
            <a:r>
              <a:t>10-fold CV: 64.79% ± 7.18%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CART Evaluation &amp; Model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5943600" cy="5166360"/>
          </a:xfrm>
          <a:prstGeom prst="rect">
            <a:avLst/>
          </a:prstGeom>
          <a:solidFill>
            <a:srgbClr val="F9FAFB"/>
          </a:solidFill>
          <a:ln>
            <a:solidFill>
              <a:srgbClr val="5F697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INSERT 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cart_confusion_matrix.png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92040" cy="114300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85431" y="1344168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1" y="1709928"/>
            <a:ext cx="4562855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Shows how CART predictions are distributed across actual and predicted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06040"/>
            <a:ext cx="4892040" cy="16459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1" y="2715768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3081528"/>
            <a:ext cx="456285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ptos"/>
              </a:defRPr>
            </a:pPr>
            <a:r>
              <a:t>• Diagonal cells = correct predictions.</a:t>
            </a:r>
            <a:br/>
            <a:r>
              <a:t>• Off-diagonal cells = misclassifications.</a:t>
            </a:r>
            <a:br/>
            <a:r>
              <a:t>• Helps identify which classes are confused.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572000"/>
            <a:ext cx="489204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85431" y="4681728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5047488"/>
            <a:ext cx="4562855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ptos"/>
              </a:defRPr>
            </a:pPr>
            <a:r>
              <a:t>If needed, place the decision-tree visualization below this section or keep it for the report.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925311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Random Forest — Project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155448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207007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WHY ADD ANOTHER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572768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The reference work focuses on CART. We extended the project with Random Forest so a single tree can be compared with an ensemble of trees.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349240" cy="15544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207007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RANDOM FOREST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572768"/>
            <a:ext cx="502005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n_estimators = 100</a:t>
            </a:r>
            <a:br/>
            <a:r>
              <a:t>random_state = 42</a:t>
            </a:r>
            <a:br/>
            <a:r>
              <a:t>Same preprocessed dataset</a:t>
            </a:r>
            <a:br/>
            <a:r>
              <a:t>Same 70:30 stratified split</a:t>
            </a:r>
            <a:br/>
            <a:r>
              <a:t>Same 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82F48"/>
                </a:solidFill>
                <a:latin typeface="Aptos"/>
              </a:defRPr>
            </a:pPr>
            <a:r>
              <a:t>MODEL IDEA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1554480" cy="77724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Tree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566160"/>
            <a:ext cx="1554480" cy="77724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37673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Tree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566160"/>
            <a:ext cx="1554480" cy="77724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37673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Tree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566160"/>
            <a:ext cx="1554480" cy="77724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37673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Tree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566160"/>
            <a:ext cx="1554480" cy="77724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37673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F48"/>
                </a:solidFill>
                <a:latin typeface="Aptos"/>
              </a:defRPr>
            </a:pPr>
            <a:r>
              <a:t>Tree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17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9AA"/>
                </a:solidFill>
                <a:latin typeface="Aptos"/>
              </a:defRPr>
            </a:pPr>
            <a:r>
              <a:t>→  Combined ensemble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5212080"/>
            <a:ext cx="7040880" cy="68580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24912" y="5321808"/>
            <a:ext cx="6711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0375" y="5541374"/>
            <a:ext cx="67116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323"/>
                </a:solidFill>
                <a:latin typeface="Aptos"/>
              </a:defRPr>
            </a:pPr>
            <a:r>
              <a:rPr lang="en-US"/>
              <a:t>Multiple trees are combined to obtain a more robust ensemble prediction than relying on one decision tree.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Random Forest 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5577840" cy="5166360"/>
          </a:xfrm>
          <a:prstGeom prst="rect">
            <a:avLst/>
          </a:prstGeom>
          <a:solidFill>
            <a:srgbClr val="F9FAFB"/>
          </a:solidFill>
          <a:ln>
            <a:solidFill>
              <a:srgbClr val="5F697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INSERT 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21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random_forest_confusion_matrix.png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82F48"/>
                </a:solidFill>
                <a:latin typeface="Aptos"/>
              </a:defRPr>
            </a:pPr>
            <a:r>
              <a:t>RANDOM FOREST TEST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37360"/>
            <a:ext cx="21488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59" y="1828800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2103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75.00%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737360"/>
            <a:ext cx="21488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828800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68.10%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834640"/>
            <a:ext cx="21488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59" y="2926080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200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75.00%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834640"/>
            <a:ext cx="214884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2926080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004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69.47%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4160520"/>
            <a:ext cx="4800600" cy="141732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4270248"/>
            <a:ext cx="4471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4636008"/>
            <a:ext cx="44714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Random Forest achieved higher test accuracy, recall and F1-score than CART under the same experimental setup.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143001"/>
            <a:ext cx="555955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CART vs Random Forest —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5760720" cy="5257800"/>
          </a:xfrm>
          <a:prstGeom prst="rect">
            <a:avLst/>
          </a:prstGeom>
          <a:solidFill>
            <a:srgbClr val="F9FAFB"/>
          </a:solidFill>
          <a:ln>
            <a:solidFill>
              <a:srgbClr val="5F697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INSERT 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performance_comparison.png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2F48"/>
                </a:solidFill>
                <a:latin typeface="Aptos"/>
              </a:defRPr>
            </a:pPr>
            <a:r>
              <a:t>RESULT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1828800" cy="566928"/>
          </a:xfrm>
          <a:prstGeom prst="rect">
            <a:avLst/>
          </a:prstGeom>
          <a:solidFill>
            <a:srgbClr val="2D69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00200"/>
            <a:ext cx="1554480" cy="566928"/>
          </a:xfrm>
          <a:prstGeom prst="rect">
            <a:avLst/>
          </a:prstGeom>
          <a:solidFill>
            <a:srgbClr val="2D69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600200"/>
            <a:ext cx="1828800" cy="566928"/>
          </a:xfrm>
          <a:prstGeom prst="rect">
            <a:avLst/>
          </a:prstGeom>
          <a:solidFill>
            <a:srgbClr val="2D69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1737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402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3865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240280"/>
            <a:ext cx="155448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38658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69.12%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2402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23865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75.00%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0723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926080"/>
            <a:ext cx="155448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307238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67.46%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9260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30723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68.10%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118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7581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611880"/>
            <a:ext cx="155448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75818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69.12%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6118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37581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75.00%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976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4439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297680"/>
            <a:ext cx="155448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444398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67.80%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4297680"/>
            <a:ext cx="1828800" cy="594360"/>
          </a:xfrm>
          <a:prstGeom prst="rect">
            <a:avLst/>
          </a:prstGeom>
          <a:solidFill>
            <a:srgbClr val="F2F6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0" y="44439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69.47%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181" y="5440680"/>
            <a:ext cx="4709160" cy="96012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0">
                <a:solidFill>
                  <a:srgbClr val="232323"/>
                </a:solidFill>
                <a:latin typeface="Aptos"/>
              </a:defRPr>
            </a:pPr>
            <a:r>
              <a:rPr lang="en-US"/>
              <a:t>Random Forest improved test accuracy by 5.88 percentage points: 75.00% vs 69.12%.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528868" y="5158879"/>
            <a:ext cx="4379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rPr dirty="0"/>
              <a:t>KEY RESULT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" y="1141060"/>
            <a:ext cx="6189709" cy="5716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Reference Result vs Our CART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310896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REFERENCE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≈ 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10896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325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OUR CART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69.12%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234440"/>
            <a:ext cx="3108960" cy="868680"/>
          </a:xfrm>
          <a:prstGeom prst="roundRect">
            <a:avLst/>
          </a:prstGeom>
          <a:solidFill>
            <a:srgbClr val="E7F1FA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325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6973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F48"/>
                </a:solidFill>
                <a:latin typeface="Aptos"/>
              </a:defRPr>
            </a:pPr>
            <a:r>
              <a:t>≈ 10.88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82F48"/>
                </a:solidFill>
                <a:latin typeface="Aptos"/>
              </a:defRPr>
            </a:pPr>
            <a:r>
              <a:t>WHY CAN RESULTS DIFFER?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Reference implementation uses R rpart.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Our implementation uses Python DecisionTreeClassifier with Gini criterion.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Complexity/pruning settings may differ.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Train/test split and preprocessing details may differ.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Random seed and software/library versions can affect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4892040" cy="150876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761488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REPRODUCTION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127248"/>
            <a:ext cx="4562855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We report the actual experimental result (69.12%) transparently. We do not alter the result just to match the reference paper.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434840"/>
            <a:ext cx="489204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4544568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WHAT WAS REPRODUCED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910327"/>
            <a:ext cx="45628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ptos"/>
              </a:defRPr>
            </a:pPr>
            <a:r>
              <a:t>Same dataset • Main preprocessing idea • CART classification • Evaluation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F48"/>
                </a:solidFill>
                <a:latin typeface="Aptos"/>
              </a:defRPr>
            </a:pPr>
            <a:r>
              <a:t>Overall Workflow,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69A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F48"/>
                </a:solidFill>
                <a:latin typeface="Aptos"/>
              </a:defRPr>
            </a:pPr>
            <a:r>
              <a:t>COMPLETE PROJECT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508760" cy="7315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2F48"/>
                </a:solidFill>
                <a:latin typeface="Aptos"/>
              </a:defRPr>
            </a:pPr>
            <a:r>
              <a:t>UCI</a:t>
            </a:r>
            <a:br/>
            <a: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325880"/>
            <a:ext cx="1508760" cy="7315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15361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2F48"/>
                </a:solidFill>
                <a:latin typeface="Aptos"/>
              </a:defRPr>
            </a:pPr>
            <a:r>
              <a:t>Preprocess</a:t>
            </a:r>
            <a:br/>
            <a:r>
              <a:t>&amp; Impute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1508760" cy="7315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5361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2F48"/>
                </a:solidFill>
                <a:latin typeface="Aptos"/>
              </a:defRPr>
            </a:pPr>
            <a:r>
              <a:t>70:30</a:t>
            </a:r>
            <a:br/>
            <a: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1508760" cy="7315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5361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2F48"/>
                </a:solidFill>
                <a:latin typeface="Aptos"/>
              </a:defRPr>
            </a:pPr>
            <a:r>
              <a:t>CART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25880"/>
            <a:ext cx="1508760" cy="7315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361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2F48"/>
                </a:solidFill>
                <a:latin typeface="Aptos"/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325880"/>
            <a:ext cx="1508760" cy="73152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15361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2F48"/>
                </a:solidFill>
                <a:latin typeface="Aptos"/>
              </a:defRPr>
            </a:pPr>
            <a:r>
              <a:t>Compare</a:t>
            </a:r>
            <a:br/>
            <a: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F48"/>
                </a:solidFill>
                <a:latin typeface="Aptos"/>
              </a:defRPr>
            </a:pPr>
            <a:r>
              <a:t>KEY CONCLUSIONS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0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CART reproduction achieved 69.12% test accuracy.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Random Forest achieved 75.00% test accuracy.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Random Forest improved accuracy by 5.88 percentage points.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Reference paper reports approximately 80% CART accuracy.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97480"/>
            <a:ext cx="5074920" cy="128016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807208"/>
            <a:ext cx="4745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172968"/>
            <a:ext cx="474573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ptos"/>
              </a:defRPr>
            </a:pPr>
            <a:r>
              <a:t>Hyperparameter tuning • Feature selection • Class-imbalance handling • Additional ML models • Larger ECG datasets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343400"/>
            <a:ext cx="507492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4453128"/>
            <a:ext cx="4745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282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81888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ptos"/>
              </a:defRPr>
            </a:pPr>
            <a:r>
              <a:t>The project reproduces the reference CART workflow and extends it with Random Forest for comparative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783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82F4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880360"/>
            <a:ext cx="6675120" cy="914400"/>
          </a:xfrm>
          <a:prstGeom prst="roundRect">
            <a:avLst/>
          </a:prstGeom>
          <a:solidFill>
            <a:srgbClr val="E7F1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07792" y="2990088"/>
            <a:ext cx="6345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9AA"/>
                </a:solidFill>
                <a:latin typeface="Aptos"/>
              </a:defRPr>
            </a:pPr>
            <a:r>
              <a:t>PROJECT HIGHLIGHT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" y="3355848"/>
            <a:ext cx="6345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Aptos"/>
              </a:defRPr>
            </a:pPr>
            <a:r>
              <a:t>CART: 69.12%   |   Random Forest: 75.00%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51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69AA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826</Words>
  <Application>Microsoft Office PowerPoint</Application>
  <PresentationFormat>Widescreen</PresentationFormat>
  <Paragraphs>187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2026-10-04T06:13:04Z</dcterms:modified>
  <cp:category/>
</cp:coreProperties>
</file>